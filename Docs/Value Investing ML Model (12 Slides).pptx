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B0802030000000004"/>
      <p:regular r:id="rId18"/>
    </p:embeddedFont>
    <p:embeddedFont>
      <p:font typeface="Open Sans" charset="1" panose="00000000000000000000"/>
      <p:regular r:id="rId19"/>
    </p:embeddedFont>
    <p:embeddedFont>
      <p:font typeface="Inter" charset="1" panose="020B0502030000000004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667000"/>
            <a:ext cx="1905000" cy="38100"/>
            <a:chOff x="0" y="0"/>
            <a:chExt cx="2540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2714625"/>
            <a:ext cx="160020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Value Investing ML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705225"/>
            <a:ext cx="16002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B0BEC5"/>
                </a:solidFill>
                <a:latin typeface="Open Sans"/>
                <a:ea typeface="Open Sans"/>
                <a:cs typeface="Open Sans"/>
                <a:sym typeface="Open Sans"/>
              </a:rPr>
              <a:t>Predicting future stock prices based on financial ratios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4476750"/>
            <a:ext cx="762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4ECCA3"/>
                </a:solidFill>
                <a:latin typeface="Open Sans"/>
                <a:ea typeface="Open Sans"/>
                <a:cs typeface="Open Sans"/>
                <a:sym typeface="Open Sans"/>
              </a:rPr>
              <a:t>From domain analysis to demo application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05000" y="7143750"/>
            <a:ext cx="3333750" cy="571500"/>
            <a:chOff x="0" y="0"/>
            <a:chExt cx="44450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445000">
                  <a:moveTo>
                    <a:pt x="63500" y="0"/>
                  </a:moveTo>
                  <a:lnTo>
                    <a:pt x="4381500" y="0"/>
                  </a:lnTo>
                  <a:cubicBezTo>
                    <a:pt x="4416570" y="0"/>
                    <a:pt x="4445000" y="34116"/>
                    <a:pt x="4445000" y="76200"/>
                  </a:cubicBezTo>
                  <a:lnTo>
                    <a:pt x="4445000" y="685800"/>
                  </a:lnTo>
                  <a:cubicBezTo>
                    <a:pt x="4445000" y="727884"/>
                    <a:pt x="4416570" y="762000"/>
                    <a:pt x="4381500" y="762000"/>
                  </a:cubicBezTo>
                  <a:lnTo>
                    <a:pt x="63500" y="762000"/>
                  </a:lnTo>
                  <a:cubicBezTo>
                    <a:pt x="28430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ECCA3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445000" cy="80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>
                      <a:alpha val="89804"/>
                    </a:srgbClr>
                  </a:solidFill>
                  <a:latin typeface="Inter"/>
                  <a:ea typeface="Inter"/>
                  <a:cs typeface="Inter"/>
                  <a:sym typeface="Inter"/>
                </a:rPr>
                <a:t>ANALYZING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19750" y="7143750"/>
            <a:ext cx="3333750" cy="571500"/>
            <a:chOff x="0" y="0"/>
            <a:chExt cx="4445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445000">
                  <a:moveTo>
                    <a:pt x="63500" y="0"/>
                  </a:moveTo>
                  <a:lnTo>
                    <a:pt x="4381500" y="0"/>
                  </a:lnTo>
                  <a:cubicBezTo>
                    <a:pt x="4416570" y="0"/>
                    <a:pt x="4445000" y="34116"/>
                    <a:pt x="4445000" y="76200"/>
                  </a:cubicBezTo>
                  <a:lnTo>
                    <a:pt x="4445000" y="685800"/>
                  </a:lnTo>
                  <a:cubicBezTo>
                    <a:pt x="4445000" y="727884"/>
                    <a:pt x="4416570" y="762000"/>
                    <a:pt x="4381500" y="762000"/>
                  </a:cubicBezTo>
                  <a:lnTo>
                    <a:pt x="63500" y="762000"/>
                  </a:lnTo>
                  <a:cubicBezTo>
                    <a:pt x="28430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ECCA3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445000" cy="80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>
                      <a:alpha val="89804"/>
                    </a:srgbClr>
                  </a:solidFill>
                  <a:latin typeface="Inter"/>
                  <a:ea typeface="Inter"/>
                  <a:cs typeface="Inter"/>
                  <a:sym typeface="Inter"/>
                </a:rPr>
                <a:t>DESIGNING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34500" y="7143750"/>
            <a:ext cx="3333750" cy="571500"/>
            <a:chOff x="0" y="0"/>
            <a:chExt cx="4445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445000">
                  <a:moveTo>
                    <a:pt x="63500" y="0"/>
                  </a:moveTo>
                  <a:lnTo>
                    <a:pt x="4381500" y="0"/>
                  </a:lnTo>
                  <a:cubicBezTo>
                    <a:pt x="4416570" y="0"/>
                    <a:pt x="4445000" y="34116"/>
                    <a:pt x="4445000" y="76200"/>
                  </a:cubicBezTo>
                  <a:lnTo>
                    <a:pt x="4445000" y="685800"/>
                  </a:lnTo>
                  <a:cubicBezTo>
                    <a:pt x="4445000" y="727884"/>
                    <a:pt x="4416570" y="762000"/>
                    <a:pt x="4381500" y="762000"/>
                  </a:cubicBezTo>
                  <a:lnTo>
                    <a:pt x="63500" y="762000"/>
                  </a:lnTo>
                  <a:cubicBezTo>
                    <a:pt x="28430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ECCA3">
                <a:alpha val="8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445000" cy="80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>
                      <a:alpha val="89804"/>
                    </a:srgbClr>
                  </a:solidFill>
                  <a:latin typeface="Inter"/>
                  <a:ea typeface="Inter"/>
                  <a:cs typeface="Inter"/>
                  <a:sym typeface="Inter"/>
                </a:rPr>
                <a:t>REALIZING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49250" y="7143750"/>
            <a:ext cx="3333750" cy="571500"/>
            <a:chOff x="0" y="0"/>
            <a:chExt cx="4445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445000">
                  <a:moveTo>
                    <a:pt x="63500" y="0"/>
                  </a:moveTo>
                  <a:lnTo>
                    <a:pt x="4381500" y="0"/>
                  </a:lnTo>
                  <a:cubicBezTo>
                    <a:pt x="4416570" y="0"/>
                    <a:pt x="4445000" y="34116"/>
                    <a:pt x="4445000" y="76200"/>
                  </a:cubicBezTo>
                  <a:lnTo>
                    <a:pt x="4445000" y="685800"/>
                  </a:lnTo>
                  <a:cubicBezTo>
                    <a:pt x="4445000" y="727884"/>
                    <a:pt x="4416570" y="762000"/>
                    <a:pt x="4381500" y="762000"/>
                  </a:cubicBezTo>
                  <a:lnTo>
                    <a:pt x="63500" y="762000"/>
                  </a:lnTo>
                  <a:cubicBezTo>
                    <a:pt x="28430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ECCA3">
                <a:alpha val="8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445000" cy="80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>
                      <a:alpha val="89804"/>
                    </a:srgbClr>
                  </a:solidFill>
                  <a:latin typeface="Inter"/>
                  <a:ea typeface="Inter"/>
                  <a:cs typeface="Inter"/>
                  <a:sym typeface="Inter"/>
                </a:rPr>
                <a:t>MANAGE &amp; CONTROL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58750" y="2857500"/>
            <a:ext cx="3810000" cy="3810000"/>
            <a:chOff x="0" y="0"/>
            <a:chExt cx="5080000" cy="508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4ECCA3">
                <a:alpha val="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Project Origin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2098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 wanted to build a project combining investing and machine learning.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2771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Inspired by Benjamin Graham's value investing philosophy.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4204970"/>
            <a:ext cx="1333500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Initial question: 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E0E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what extent can machine learning be used to predict future stock prices based on financial reports so that investors can identify potentially attractive investment opportunities?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331533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Value investing = searching for companies worth more than their current market price.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0" y="7143750"/>
            <a:ext cx="7620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>
            <a:off x="8763000" y="7143750"/>
            <a:ext cx="7620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6096000" y="7143750"/>
            <a:ext cx="7620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Stakeholder &amp; Expert Interview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009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Searched for real stakeholders in the investment domain.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2743200"/>
            <a:ext cx="13335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Main stakeholder: Edwin Slaghekke, Head of Investments at Ambassador Vermogensbeheer.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37338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Prepared expert interview: questions, conducted interview, created transcript.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4295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Used to understand how professional investors analyze companies.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191000" y="6667500"/>
            <a:ext cx="2286000" cy="1047750"/>
            <a:chOff x="0" y="0"/>
            <a:chExt cx="3048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2546"/>
                    <a:pt x="3048000" y="139700"/>
                  </a:cubicBezTo>
                  <a:lnTo>
                    <a:pt x="3048000" y="1257300"/>
                  </a:lnTo>
                  <a:cubicBezTo>
                    <a:pt x="3048000" y="1334454"/>
                    <a:pt x="2979768" y="1397000"/>
                    <a:pt x="2895600" y="1397000"/>
                  </a:cubicBezTo>
                  <a:lnTo>
                    <a:pt x="152400" y="1397000"/>
                  </a:lnTo>
                  <a:cubicBezTo>
                    <a:pt x="68232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048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Identify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Stakeholder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0" y="6667500"/>
            <a:ext cx="2286000" cy="1047750"/>
            <a:chOff x="0" y="0"/>
            <a:chExt cx="3048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2546"/>
                    <a:pt x="3048000" y="139700"/>
                  </a:cubicBezTo>
                  <a:lnTo>
                    <a:pt x="3048000" y="1257300"/>
                  </a:lnTo>
                  <a:cubicBezTo>
                    <a:pt x="3048000" y="1334454"/>
                    <a:pt x="2979768" y="1397000"/>
                    <a:pt x="2895600" y="1397000"/>
                  </a:cubicBezTo>
                  <a:lnTo>
                    <a:pt x="152400" y="1397000"/>
                  </a:lnTo>
                  <a:cubicBezTo>
                    <a:pt x="68232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048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Prepare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Questions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0" y="6667500"/>
            <a:ext cx="2286000" cy="1047750"/>
            <a:chOff x="0" y="0"/>
            <a:chExt cx="3048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2546"/>
                    <a:pt x="3048000" y="139700"/>
                  </a:cubicBezTo>
                  <a:lnTo>
                    <a:pt x="3048000" y="1257300"/>
                  </a:lnTo>
                  <a:cubicBezTo>
                    <a:pt x="3048000" y="1334454"/>
                    <a:pt x="2979768" y="1397000"/>
                    <a:pt x="2895600" y="1397000"/>
                  </a:cubicBezTo>
                  <a:lnTo>
                    <a:pt x="152400" y="1397000"/>
                  </a:lnTo>
                  <a:cubicBezTo>
                    <a:pt x="68232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048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Conduct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Interview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92000" y="6667500"/>
            <a:ext cx="2286000" cy="1047750"/>
            <a:chOff x="0" y="0"/>
            <a:chExt cx="3048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2546"/>
                    <a:pt x="3048000" y="139700"/>
                  </a:cubicBezTo>
                  <a:lnTo>
                    <a:pt x="3048000" y="1257300"/>
                  </a:lnTo>
                  <a:cubicBezTo>
                    <a:pt x="3048000" y="1334454"/>
                    <a:pt x="2979768" y="1397000"/>
                    <a:pt x="2895600" y="1397000"/>
                  </a:cubicBezTo>
                  <a:lnTo>
                    <a:pt x="152400" y="1397000"/>
                  </a:lnTo>
                  <a:cubicBezTo>
                    <a:pt x="68232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048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Analyze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Insights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58000" y="7239000"/>
            <a:ext cx="1714500" cy="0"/>
          </a:xfrm>
          <a:prstGeom prst="line">
            <a:avLst/>
          </a:prstGeom>
          <a:ln cap="flat" w="28575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From Classification to Prediction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22098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First idea: classify companies as undervalued, fairly valued, or overvalued.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26765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Technical coaching revealed this was a weak ML problem.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35433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The label 'undervalued' is not objective truth - it depends on interpretation.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40100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A model would learn opinions behind labels, not objective reality.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4676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Key lesson: a ML model needs a solid objective truth, measurable target variable.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10000" y="6667500"/>
            <a:ext cx="3619500" cy="1333500"/>
            <a:chOff x="0" y="0"/>
            <a:chExt cx="4826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6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826000">
                  <a:moveTo>
                    <a:pt x="180975" y="0"/>
                  </a:moveTo>
                  <a:lnTo>
                    <a:pt x="4645025" y="0"/>
                  </a:lnTo>
                  <a:cubicBezTo>
                    <a:pt x="4744975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4975" y="1778000"/>
                    <a:pt x="4645025" y="1778000"/>
                  </a:cubicBezTo>
                  <a:lnTo>
                    <a:pt x="180975" y="1778000"/>
                  </a:lnTo>
                  <a:cubicBezTo>
                    <a:pt x="81025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26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6B6B"/>
                  </a:solidFill>
                  <a:latin typeface="Inter"/>
                  <a:ea typeface="Inter"/>
                  <a:cs typeface="Inter"/>
                  <a:sym typeface="Inter"/>
                </a:rPr>
                <a:t>Classification</a:t>
              </a: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6B6B"/>
                  </a:solidFill>
                  <a:latin typeface="Inter"/>
                  <a:ea typeface="Inter"/>
                  <a:cs typeface="Inter"/>
                  <a:sym typeface="Inter"/>
                </a:rPr>
                <a:t>(Rejected)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0" y="6667500"/>
            <a:ext cx="3619500" cy="1333500"/>
            <a:chOff x="0" y="0"/>
            <a:chExt cx="4826000" cy="17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26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826000">
                  <a:moveTo>
                    <a:pt x="180975" y="0"/>
                  </a:moveTo>
                  <a:lnTo>
                    <a:pt x="4645025" y="0"/>
                  </a:lnTo>
                  <a:cubicBezTo>
                    <a:pt x="4744975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4975" y="1778000"/>
                    <a:pt x="4645025" y="1778000"/>
                  </a:cubicBezTo>
                  <a:lnTo>
                    <a:pt x="180975" y="1778000"/>
                  </a:lnTo>
                  <a:cubicBezTo>
                    <a:pt x="81025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826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4ECCA3"/>
                  </a:solidFill>
                  <a:latin typeface="Inter"/>
                  <a:ea typeface="Inter"/>
                  <a:cs typeface="Inter"/>
                  <a:sym typeface="Inter"/>
                </a:rPr>
                <a:t>Regression</a:t>
              </a: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4ECCA3"/>
                  </a:solidFill>
                  <a:latin typeface="Inter"/>
                  <a:ea typeface="Inter"/>
                  <a:cs typeface="Inter"/>
                  <a:sym typeface="Inter"/>
                </a:rPr>
                <a:t>(Chosen)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762875" y="7558722"/>
            <a:ext cx="1428750" cy="0"/>
          </a:xfrm>
          <a:prstGeom prst="line">
            <a:avLst/>
          </a:prstGeom>
          <a:ln cap="flat" w="28575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Final Problem Definition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1981200"/>
            <a:ext cx="13335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The stakeholder confirmed: estimating future stock prices is useful in their investment process.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76500" y="3238500"/>
            <a:ext cx="13335000" cy="1524000"/>
            <a:chOff x="0" y="0"/>
            <a:chExt cx="17780000" cy="203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7780000">
                  <a:moveTo>
                    <a:pt x="203200" y="0"/>
                  </a:moveTo>
                  <a:lnTo>
                    <a:pt x="17576800" y="0"/>
                  </a:lnTo>
                  <a:cubicBezTo>
                    <a:pt x="17689024" y="0"/>
                    <a:pt x="17780000" y="90976"/>
                    <a:pt x="17780000" y="203200"/>
                  </a:cubicBezTo>
                  <a:lnTo>
                    <a:pt x="17780000" y="1828800"/>
                  </a:lnTo>
                  <a:cubicBezTo>
                    <a:pt x="17780000" y="1941024"/>
                    <a:pt x="17689024" y="2032000"/>
                    <a:pt x="1757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2137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78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52750" y="3362325"/>
            <a:ext cx="123825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ECCA3"/>
                </a:solidFill>
                <a:latin typeface="Open Sans"/>
                <a:ea typeface="Open Sans"/>
                <a:cs typeface="Open Sans"/>
                <a:sym typeface="Open Sans"/>
              </a:rPr>
              <a:t>"To what extent can machine learning be used to predict future stock prices based on financial reports so investors can identify potentially attractive investment opportunities?"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52482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 Future Adjusted Close price, 12 months ahead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5819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type: Supervised Regression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95875" y="7143750"/>
            <a:ext cx="2667000" cy="952500"/>
            <a:chOff x="0" y="0"/>
            <a:chExt cx="3556000" cy="127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94827" y="0"/>
                  </a:moveTo>
                  <a:lnTo>
                    <a:pt x="3461173" y="0"/>
                  </a:lnTo>
                  <a:cubicBezTo>
                    <a:pt x="3513544" y="0"/>
                    <a:pt x="3556000" y="56860"/>
                    <a:pt x="3556000" y="127000"/>
                  </a:cubicBezTo>
                  <a:lnTo>
                    <a:pt x="3556000" y="1143000"/>
                  </a:lnTo>
                  <a:cubicBezTo>
                    <a:pt x="3556000" y="1213140"/>
                    <a:pt x="3513544" y="1270000"/>
                    <a:pt x="3461173" y="1270000"/>
                  </a:cubicBezTo>
                  <a:lnTo>
                    <a:pt x="94827" y="1270000"/>
                  </a:lnTo>
                  <a:cubicBezTo>
                    <a:pt x="42455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2455" y="0"/>
                    <a:pt x="94827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556000" cy="129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Financial Ratios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at time 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91625" y="7143750"/>
            <a:ext cx="2667000" cy="952500"/>
            <a:chOff x="0" y="0"/>
            <a:chExt cx="3556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94827" y="0"/>
                  </a:moveTo>
                  <a:lnTo>
                    <a:pt x="3461173" y="0"/>
                  </a:lnTo>
                  <a:cubicBezTo>
                    <a:pt x="3513544" y="0"/>
                    <a:pt x="3556000" y="56860"/>
                    <a:pt x="3556000" y="127000"/>
                  </a:cubicBezTo>
                  <a:lnTo>
                    <a:pt x="3556000" y="1143000"/>
                  </a:lnTo>
                  <a:cubicBezTo>
                    <a:pt x="3556000" y="1213140"/>
                    <a:pt x="3513544" y="1270000"/>
                    <a:pt x="3461173" y="1270000"/>
                  </a:cubicBezTo>
                  <a:lnTo>
                    <a:pt x="94827" y="1270000"/>
                  </a:lnTo>
                  <a:cubicBezTo>
                    <a:pt x="42455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2455" y="0"/>
                    <a:pt x="94827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556000" cy="129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Stock Price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at t + 12 months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Scope and Risks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2009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The model is NOT financial advice.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26765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It should be used as a screening or filtering tool.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35433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Cannot predict black swan events (pandemics, wars, crises, management changes).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3981450"/>
            <a:ext cx="13335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Qualitative factors (management quality, competitive advantage, sentiment) are out of scope.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498221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Main risk: users may overtrust the model.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76750" y="6858000"/>
            <a:ext cx="2286000" cy="1143000"/>
            <a:chOff x="0" y="0"/>
            <a:chExt cx="3048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048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Overreliance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53250" y="6858000"/>
            <a:ext cx="2286000" cy="1143000"/>
            <a:chOff x="0" y="0"/>
            <a:chExt cx="3048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048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Black Swan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Events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29750" y="6858000"/>
            <a:ext cx="2286000" cy="1143000"/>
            <a:chOff x="0" y="0"/>
            <a:chExt cx="3048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048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Data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Limitations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06250" y="6858000"/>
            <a:ext cx="2286000" cy="1143000"/>
            <a:chOff x="0" y="0"/>
            <a:chExt cx="3048000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1371600"/>
                  </a:lnTo>
                  <a:cubicBezTo>
                    <a:pt x="3048000" y="1455768"/>
                    <a:pt x="2979768" y="1524000"/>
                    <a:pt x="2895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048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Human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6B6B"/>
                  </a:solidFill>
                  <a:latin typeface="Open Sans"/>
                  <a:ea typeface="Open Sans"/>
                  <a:cs typeface="Open Sans"/>
                  <a:sym typeface="Open Sans"/>
                </a:rPr>
                <a:t>Judgement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Requirements &amp; Source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2009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Selected quantitative financial indicators based on expert interview: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0250" y="2933700"/>
            <a:ext cx="14287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4ECCA3"/>
                </a:solidFill>
                <a:latin typeface="Open Sans"/>
                <a:ea typeface="Open Sans"/>
                <a:cs typeface="Open Sans"/>
                <a:sym typeface="Open Sans"/>
              </a:rPr>
              <a:t>Adjusted Close  |  Volume  |  Market Cap  |  P/E  |  P/S  |  P/B  |  P/FCF  |  EV/EBITDA  |  EV/Sales  |  Book to Market Value  |  Operating Income/EV  |  Altman Z Score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3914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Compared sources: SEC Edgar, Kaggle, SimFin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44862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SimFin selected:</a:t>
            </a:r>
            <a:r>
              <a:rPr lang="en-US" sz="26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structured US/EU market financial ratios + share price history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5057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Original dataset: ~22 million rows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15000" y="6667500"/>
            <a:ext cx="2286000" cy="857250"/>
            <a:chOff x="0" y="0"/>
            <a:chExt cx="30480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048000">
                  <a:moveTo>
                    <a:pt x="106680" y="0"/>
                  </a:moveTo>
                  <a:lnTo>
                    <a:pt x="2941320" y="0"/>
                  </a:lnTo>
                  <a:cubicBezTo>
                    <a:pt x="3000238" y="0"/>
                    <a:pt x="3048000" y="51174"/>
                    <a:pt x="3048000" y="114300"/>
                  </a:cubicBezTo>
                  <a:lnTo>
                    <a:pt x="3048000" y="1028700"/>
                  </a:lnTo>
                  <a:cubicBezTo>
                    <a:pt x="3048000" y="1091826"/>
                    <a:pt x="3000238" y="1143000"/>
                    <a:pt x="2941320" y="1143000"/>
                  </a:cubicBezTo>
                  <a:lnTo>
                    <a:pt x="106680" y="1143000"/>
                  </a:lnTo>
                  <a:cubicBezTo>
                    <a:pt x="47762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762" y="0"/>
                    <a:pt x="106680" y="0"/>
                  </a:cubicBezTo>
                  <a:close/>
                </a:path>
              </a:pathLst>
            </a:custGeom>
            <a:solidFill>
              <a:srgbClr val="1A2D4A">
                <a:alpha val="29804"/>
              </a:srgbClr>
            </a:solidFill>
            <a:ln w="19050" cap="sq">
              <a:solidFill>
                <a:srgbClr val="4ECCA3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48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>
                      <a:alpha val="29804"/>
                    </a:srgbClr>
                  </a:solidFill>
                  <a:latin typeface="Inter"/>
                  <a:ea typeface="Inter"/>
                  <a:cs typeface="Inter"/>
                  <a:sym typeface="Inter"/>
                </a:rPr>
                <a:t>SEC Edgar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82000" y="6667500"/>
            <a:ext cx="2286000" cy="857250"/>
            <a:chOff x="0" y="0"/>
            <a:chExt cx="3048000" cy="114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048000">
                  <a:moveTo>
                    <a:pt x="106680" y="0"/>
                  </a:moveTo>
                  <a:lnTo>
                    <a:pt x="2941320" y="0"/>
                  </a:lnTo>
                  <a:cubicBezTo>
                    <a:pt x="3000238" y="0"/>
                    <a:pt x="3048000" y="51174"/>
                    <a:pt x="3048000" y="114300"/>
                  </a:cubicBezTo>
                  <a:lnTo>
                    <a:pt x="3048000" y="1028700"/>
                  </a:lnTo>
                  <a:cubicBezTo>
                    <a:pt x="3048000" y="1091826"/>
                    <a:pt x="3000238" y="1143000"/>
                    <a:pt x="2941320" y="1143000"/>
                  </a:cubicBezTo>
                  <a:lnTo>
                    <a:pt x="106680" y="1143000"/>
                  </a:lnTo>
                  <a:cubicBezTo>
                    <a:pt x="47762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762" y="0"/>
                    <a:pt x="106680" y="0"/>
                  </a:cubicBezTo>
                  <a:close/>
                </a:path>
              </a:pathLst>
            </a:custGeom>
            <a:solidFill>
              <a:srgbClr val="1A2D4A">
                <a:alpha val="29804"/>
              </a:srgbClr>
            </a:solidFill>
            <a:ln w="19050" cap="sq">
              <a:solidFill>
                <a:srgbClr val="4ECCA3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48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>
                      <a:alpha val="29804"/>
                    </a:srgbClr>
                  </a:solidFill>
                  <a:latin typeface="Inter"/>
                  <a:ea typeface="Inter"/>
                  <a:cs typeface="Inter"/>
                  <a:sym typeface="Inter"/>
                </a:rPr>
                <a:t>Kaggle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49000" y="6667500"/>
            <a:ext cx="2286000" cy="857250"/>
            <a:chOff x="0" y="0"/>
            <a:chExt cx="30480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048000">
                  <a:moveTo>
                    <a:pt x="106680" y="0"/>
                  </a:moveTo>
                  <a:lnTo>
                    <a:pt x="2941320" y="0"/>
                  </a:lnTo>
                  <a:cubicBezTo>
                    <a:pt x="3000238" y="0"/>
                    <a:pt x="3048000" y="51174"/>
                    <a:pt x="3048000" y="114300"/>
                  </a:cubicBezTo>
                  <a:lnTo>
                    <a:pt x="3048000" y="1028700"/>
                  </a:lnTo>
                  <a:cubicBezTo>
                    <a:pt x="3048000" y="1091826"/>
                    <a:pt x="3000238" y="1143000"/>
                    <a:pt x="2941320" y="1143000"/>
                  </a:cubicBezTo>
                  <a:lnTo>
                    <a:pt x="106680" y="1143000"/>
                  </a:lnTo>
                  <a:cubicBezTo>
                    <a:pt x="47762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762" y="0"/>
                    <a:pt x="106680" y="0"/>
                  </a:cubicBezTo>
                  <a:close/>
                </a:path>
              </a:pathLst>
            </a:custGeom>
            <a:solidFill>
              <a:srgbClr val="4ECCA3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048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SimFin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0" y="7286625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>
            <a:off x="6858000" y="7286625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" id="4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Baseline Model / Iteration Zero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2009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Created a baseline model in Jupyter Notebook.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6765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Dataset too large - reduced to most recent 3 years.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33432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Aligned with stakeholder: does not focus too far back in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40100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Inspected missing values, strange repeated values, and outliers.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4676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Baseline gave a reference point for later improvements.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762500" y="6858000"/>
            <a:ext cx="2476500" cy="1047750"/>
            <a:chOff x="0" y="0"/>
            <a:chExt cx="3302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Jupyter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Notebook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10500" y="6858000"/>
            <a:ext cx="2476500" cy="1047750"/>
            <a:chOff x="0" y="0"/>
            <a:chExt cx="3302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Baseline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8500" y="6858000"/>
            <a:ext cx="2476500" cy="1047750"/>
            <a:chOff x="0" y="0"/>
            <a:chExt cx="3302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First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Metrics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525250" y="7286625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>
            <a:off x="8477250" y="7286625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5429250" y="7286625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Cleaning &amp;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00025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Spent more time understanding missing and extreme values before removing them.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26193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Used time series checks, frequency analysis, and domain reasoning.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32385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Cleaned based on what values could mean financially (not random deletion).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38576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Selected companies with at least 90% complete data.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447675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Target variable: shifted future stock prices one year forward.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750" y="50958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Feature engineering: </a:t>
            </a: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One year of usable rows is lost due to 12-month forward shift.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333750" y="6858000"/>
            <a:ext cx="2476500" cy="1047750"/>
            <a:chOff x="0" y="0"/>
            <a:chExt cx="33020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Raw Data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81750" y="6858000"/>
            <a:ext cx="2476500" cy="1047750"/>
            <a:chOff x="0" y="0"/>
            <a:chExt cx="3302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Cleaning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29750" y="6858000"/>
            <a:ext cx="2476500" cy="1047750"/>
            <a:chOff x="0" y="0"/>
            <a:chExt cx="33020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Completeness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Filter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77750" y="6858000"/>
            <a:ext cx="2476500" cy="1047750"/>
            <a:chOff x="0" y="0"/>
            <a:chExt cx="330200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135082" y="0"/>
                  </a:moveTo>
                  <a:lnTo>
                    <a:pt x="3166918" y="0"/>
                  </a:lnTo>
                  <a:cubicBezTo>
                    <a:pt x="3241522" y="0"/>
                    <a:pt x="3302000" y="62546"/>
                    <a:pt x="3302000" y="139700"/>
                  </a:cubicBezTo>
                  <a:lnTo>
                    <a:pt x="3302000" y="1257300"/>
                  </a:lnTo>
                  <a:cubicBezTo>
                    <a:pt x="3302000" y="1334454"/>
                    <a:pt x="3241522" y="1397000"/>
                    <a:pt x="3166918" y="1397000"/>
                  </a:cubicBezTo>
                  <a:lnTo>
                    <a:pt x="135082" y="1397000"/>
                  </a:lnTo>
                  <a:cubicBezTo>
                    <a:pt x="60478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0478" y="0"/>
                    <a:pt x="135082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302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Target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Engineering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28750" y="571563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Dataset from 22 million rows → 900.000 rows.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87404" y="262198"/>
            <a:ext cx="5457596" cy="4781924"/>
          </a:xfrm>
          <a:custGeom>
            <a:avLst/>
            <a:gdLst/>
            <a:ahLst/>
            <a:cxnLst/>
            <a:rect r="r" b="b" t="t" l="l"/>
            <a:pathLst>
              <a:path h="4781924" w="5457596">
                <a:moveTo>
                  <a:pt x="0" y="0"/>
                </a:moveTo>
                <a:lnTo>
                  <a:pt x="5457596" y="0"/>
                </a:lnTo>
                <a:lnTo>
                  <a:pt x="5457596" y="4781925"/>
                </a:lnTo>
                <a:lnTo>
                  <a:pt x="0" y="4781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3" r="0" b="-4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87404" y="5044123"/>
            <a:ext cx="5457596" cy="4075750"/>
          </a:xfrm>
          <a:custGeom>
            <a:avLst/>
            <a:gdLst/>
            <a:ahLst/>
            <a:cxnLst/>
            <a:rect r="r" b="b" t="t" l="l"/>
            <a:pathLst>
              <a:path h="4075750" w="5457596">
                <a:moveTo>
                  <a:pt x="0" y="0"/>
                </a:moveTo>
                <a:lnTo>
                  <a:pt x="5457596" y="0"/>
                </a:lnTo>
                <a:lnTo>
                  <a:pt x="5457596" y="4075749"/>
                </a:lnTo>
                <a:lnTo>
                  <a:pt x="0" y="4075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 Training &amp;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2352675"/>
            <a:ext cx="1005098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Trained regression models to predict Future Adjusted Close price.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3667760"/>
            <a:ext cx="1005098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Also explored Price Change and Price Change % (needs further investigation).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4986973"/>
            <a:ext cx="1005098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Evaluation metrics: R-squared, RMSE, MAE, error plots, predicted vs actual plots.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6434455"/>
            <a:ext cx="1005098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Final model improved over baseline - better cleaning added value and target variable engineering.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522" y="9201150"/>
            <a:ext cx="398316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Baseline R2 : 0.2668905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Final Model R2: 0.892099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7938" y="9201150"/>
            <a:ext cx="528807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Baseline RMSE: 78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Final Model RMSE: 38.611335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04855" y="9201150"/>
            <a:ext cx="504996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Baseline MAE: 586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Final Model MAE: 19.312589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Manage &amp; Control / Explainable AI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571750" y="2667000"/>
            <a:ext cx="4000500" cy="3048000"/>
            <a:chOff x="0" y="0"/>
            <a:chExt cx="5334000" cy="406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5334000">
                  <a:moveTo>
                    <a:pt x="355600" y="0"/>
                  </a:moveTo>
                  <a:lnTo>
                    <a:pt x="4978400" y="0"/>
                  </a:lnTo>
                  <a:cubicBezTo>
                    <a:pt x="5174792" y="0"/>
                    <a:pt x="5334000" y="181951"/>
                    <a:pt x="5334000" y="406400"/>
                  </a:cubicBezTo>
                  <a:lnTo>
                    <a:pt x="5334000" y="3657600"/>
                  </a:lnTo>
                  <a:cubicBezTo>
                    <a:pt x="5334000" y="3882048"/>
                    <a:pt x="5174792" y="4064000"/>
                    <a:pt x="4978400" y="4064000"/>
                  </a:cubicBezTo>
                  <a:lnTo>
                    <a:pt x="355600" y="4064000"/>
                  </a:lnTo>
                  <a:cubicBezTo>
                    <a:pt x="159208" y="4064000"/>
                    <a:pt x="0" y="3882048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33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762250" y="2943225"/>
            <a:ext cx="361950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4ECCA3"/>
                </a:solidFill>
                <a:latin typeface="Inter Bold"/>
                <a:ea typeface="Inter Bold"/>
                <a:cs typeface="Inter Bold"/>
                <a:sym typeface="Inter Bold"/>
              </a:rPr>
              <a:t>Transparency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62250" y="3695700"/>
            <a:ext cx="3619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Full documentation from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dataset to deployment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43750" y="2667000"/>
            <a:ext cx="4000500" cy="3048000"/>
            <a:chOff x="0" y="0"/>
            <a:chExt cx="5334000" cy="406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5334000">
                  <a:moveTo>
                    <a:pt x="355600" y="0"/>
                  </a:moveTo>
                  <a:lnTo>
                    <a:pt x="4978400" y="0"/>
                  </a:lnTo>
                  <a:cubicBezTo>
                    <a:pt x="5174792" y="0"/>
                    <a:pt x="5334000" y="181951"/>
                    <a:pt x="5334000" y="406400"/>
                  </a:cubicBezTo>
                  <a:lnTo>
                    <a:pt x="5334000" y="3657600"/>
                  </a:lnTo>
                  <a:cubicBezTo>
                    <a:pt x="5334000" y="3882048"/>
                    <a:pt x="5174792" y="4064000"/>
                    <a:pt x="4978400" y="4064000"/>
                  </a:cubicBezTo>
                  <a:lnTo>
                    <a:pt x="355600" y="4064000"/>
                  </a:lnTo>
                  <a:cubicBezTo>
                    <a:pt x="159208" y="4064000"/>
                    <a:pt x="0" y="3882048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3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34250" y="2943225"/>
            <a:ext cx="361950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4ECCA3"/>
                </a:solidFill>
                <a:latin typeface="Inter Bold"/>
                <a:ea typeface="Inter Bold"/>
                <a:cs typeface="Inter Bold"/>
                <a:sym typeface="Inter Bold"/>
              </a:rPr>
              <a:t>Explainability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250" y="3395980"/>
            <a:ext cx="3619500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Uses understandable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financial ratios as inputs explained in domain analysis, and data requirements.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715750" y="2667000"/>
            <a:ext cx="4000500" cy="3048000"/>
            <a:chOff x="0" y="0"/>
            <a:chExt cx="5334000" cy="406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5334000">
                  <a:moveTo>
                    <a:pt x="355600" y="0"/>
                  </a:moveTo>
                  <a:lnTo>
                    <a:pt x="4978400" y="0"/>
                  </a:lnTo>
                  <a:cubicBezTo>
                    <a:pt x="5174792" y="0"/>
                    <a:pt x="5334000" y="181951"/>
                    <a:pt x="5334000" y="406400"/>
                  </a:cubicBezTo>
                  <a:lnTo>
                    <a:pt x="5334000" y="3657600"/>
                  </a:lnTo>
                  <a:cubicBezTo>
                    <a:pt x="5334000" y="3882048"/>
                    <a:pt x="5174792" y="4064000"/>
                    <a:pt x="4978400" y="4064000"/>
                  </a:cubicBezTo>
                  <a:lnTo>
                    <a:pt x="355600" y="4064000"/>
                  </a:lnTo>
                  <a:cubicBezTo>
                    <a:pt x="159208" y="4064000"/>
                    <a:pt x="0" y="3882048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3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06250" y="2943225"/>
            <a:ext cx="361950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4ECCA3"/>
                </a:solidFill>
                <a:latin typeface="Inter Bold"/>
                <a:ea typeface="Inter Bold"/>
                <a:cs typeface="Inter Bold"/>
                <a:sym typeface="Inter Bold"/>
              </a:rPr>
              <a:t>Transferability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0" y="3462338"/>
            <a:ext cx="3619500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Notebook, model files,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Python script, requirements.txt, .NET app,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README included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144250" y="4405934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>
            <a:off x="8096250" y="4405934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5048250" y="4405934"/>
            <a:ext cx="952500" cy="0"/>
          </a:xfrm>
          <a:prstGeom prst="line">
            <a:avLst/>
          </a:prstGeom>
          <a:ln cap="flat" w="19050">
            <a:solidFill>
              <a:srgbClr val="4ECCA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143000" y="762000"/>
            <a:ext cx="1905000" cy="38100"/>
            <a:chOff x="0" y="0"/>
            <a:chExt cx="2540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0" cy="50800"/>
            </a:xfrm>
            <a:custGeom>
              <a:avLst/>
              <a:gdLst/>
              <a:ahLst/>
              <a:cxnLst/>
              <a:rect r="r" b="b" t="t" l="l"/>
              <a:pathLst>
                <a:path h="508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CCA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857250"/>
            <a:ext cx="1600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Demo Application &amp; 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00977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Built a .NET 8 Razor Pages web application with Bootstrap.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2628900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User can manually enter financial values or load example data.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3248025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C# app calls Python script that loads trained Joblib model.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5868007"/>
            <a:ext cx="133350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Returns predicted Future Adjusted Close price.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6458557"/>
            <a:ext cx="13335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ML can support value investing as a screening tool - not replace professional judgement.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476500" y="7906357"/>
            <a:ext cx="13335000" cy="952500"/>
            <a:chOff x="0" y="0"/>
            <a:chExt cx="17780000" cy="127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8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7780000">
                  <a:moveTo>
                    <a:pt x="127000" y="0"/>
                  </a:moveTo>
                  <a:lnTo>
                    <a:pt x="17653000" y="0"/>
                  </a:lnTo>
                  <a:cubicBezTo>
                    <a:pt x="17723140" y="0"/>
                    <a:pt x="17780000" y="56860"/>
                    <a:pt x="17780000" y="127000"/>
                  </a:cubicBezTo>
                  <a:lnTo>
                    <a:pt x="17780000" y="1143000"/>
                  </a:lnTo>
                  <a:cubicBezTo>
                    <a:pt x="17780000" y="1213140"/>
                    <a:pt x="17723140" y="1270000"/>
                    <a:pt x="17653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D2137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78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952750" y="7953982"/>
            <a:ext cx="123825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ECCA3"/>
                </a:solidFill>
                <a:latin typeface="Open Sans"/>
                <a:ea typeface="Open Sans"/>
                <a:cs typeface="Open Sans"/>
                <a:sym typeface="Open Sans"/>
              </a:rPr>
              <a:t>"The most important learning was that good analysis and design made the model development more reliable."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952750" y="4072559"/>
            <a:ext cx="2476500" cy="857250"/>
            <a:chOff x="0" y="0"/>
            <a:chExt cx="33020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105064" y="0"/>
                  </a:moveTo>
                  <a:lnTo>
                    <a:pt x="3196936" y="0"/>
                  </a:lnTo>
                  <a:cubicBezTo>
                    <a:pt x="3254961" y="0"/>
                    <a:pt x="3302000" y="51174"/>
                    <a:pt x="3302000" y="114300"/>
                  </a:cubicBezTo>
                  <a:lnTo>
                    <a:pt x="3302000" y="1028700"/>
                  </a:lnTo>
                  <a:cubicBezTo>
                    <a:pt x="3302000" y="1091826"/>
                    <a:pt x="3254961" y="1143000"/>
                    <a:pt x="3196936" y="1143000"/>
                  </a:cubicBezTo>
                  <a:lnTo>
                    <a:pt x="105064" y="1143000"/>
                  </a:lnTo>
                  <a:cubicBezTo>
                    <a:pt x="47039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039" y="0"/>
                    <a:pt x="105064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3020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.NET App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00750" y="4072559"/>
            <a:ext cx="2476500" cy="857250"/>
            <a:chOff x="0" y="0"/>
            <a:chExt cx="3302000" cy="114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105064" y="0"/>
                  </a:moveTo>
                  <a:lnTo>
                    <a:pt x="3196936" y="0"/>
                  </a:lnTo>
                  <a:cubicBezTo>
                    <a:pt x="3254961" y="0"/>
                    <a:pt x="3302000" y="51174"/>
                    <a:pt x="3302000" y="114300"/>
                  </a:cubicBezTo>
                  <a:lnTo>
                    <a:pt x="3302000" y="1028700"/>
                  </a:lnTo>
                  <a:cubicBezTo>
                    <a:pt x="3302000" y="1091826"/>
                    <a:pt x="3254961" y="1143000"/>
                    <a:pt x="3196936" y="1143000"/>
                  </a:cubicBezTo>
                  <a:lnTo>
                    <a:pt x="105064" y="1143000"/>
                  </a:lnTo>
                  <a:cubicBezTo>
                    <a:pt x="47039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039" y="0"/>
                    <a:pt x="105064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3020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 Script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48750" y="4072559"/>
            <a:ext cx="2476500" cy="857250"/>
            <a:chOff x="0" y="0"/>
            <a:chExt cx="3302000" cy="114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105064" y="0"/>
                  </a:moveTo>
                  <a:lnTo>
                    <a:pt x="3196936" y="0"/>
                  </a:lnTo>
                  <a:cubicBezTo>
                    <a:pt x="3254961" y="0"/>
                    <a:pt x="3302000" y="51174"/>
                    <a:pt x="3302000" y="114300"/>
                  </a:cubicBezTo>
                  <a:lnTo>
                    <a:pt x="3302000" y="1028700"/>
                  </a:lnTo>
                  <a:cubicBezTo>
                    <a:pt x="3302000" y="1091826"/>
                    <a:pt x="3254961" y="1143000"/>
                    <a:pt x="3196936" y="1143000"/>
                  </a:cubicBezTo>
                  <a:lnTo>
                    <a:pt x="105064" y="1143000"/>
                  </a:lnTo>
                  <a:cubicBezTo>
                    <a:pt x="47039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039" y="0"/>
                    <a:pt x="105064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3020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Joblib Model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96750" y="4072559"/>
            <a:ext cx="2476500" cy="857250"/>
            <a:chOff x="0" y="0"/>
            <a:chExt cx="3302000" cy="1143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105064" y="0"/>
                  </a:moveTo>
                  <a:lnTo>
                    <a:pt x="3196936" y="0"/>
                  </a:lnTo>
                  <a:cubicBezTo>
                    <a:pt x="3254961" y="0"/>
                    <a:pt x="3302000" y="51174"/>
                    <a:pt x="3302000" y="114300"/>
                  </a:cubicBezTo>
                  <a:lnTo>
                    <a:pt x="3302000" y="1028700"/>
                  </a:lnTo>
                  <a:cubicBezTo>
                    <a:pt x="3302000" y="1091826"/>
                    <a:pt x="3254961" y="1143000"/>
                    <a:pt x="3196936" y="1143000"/>
                  </a:cubicBezTo>
                  <a:lnTo>
                    <a:pt x="105064" y="1143000"/>
                  </a:lnTo>
                  <a:cubicBezTo>
                    <a:pt x="47039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47039" y="0"/>
                    <a:pt x="105064" y="0"/>
                  </a:cubicBezTo>
                  <a:close/>
                </a:path>
              </a:pathLst>
            </a:custGeom>
            <a:solidFill>
              <a:srgbClr val="1A2D4A"/>
            </a:solidFill>
            <a:ln w="19050" cap="sq">
              <a:solidFill>
                <a:srgbClr val="4ECCA3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3020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Prediction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DAHNqnLI7HA</dc:identifier>
  <dcterms:modified xsi:type="dcterms:W3CDTF">2011-08-01T06:04:30Z</dcterms:modified>
  <cp:revision>1</cp:revision>
  <dc:title>Value Investing ML Model (12 Slides)</dc:title>
</cp:coreProperties>
</file>